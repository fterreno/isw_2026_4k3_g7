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7"/>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Inter Bold" charset="1" panose="02000503000000020004"/>
      <p:regular r:id="rId30"/>
    </p:embeddedFont>
    <p:embeddedFont>
      <p:font typeface="Inter" charset="1" panose="02000503000000020004"/>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notesMasters/notesMaster1.xml" Type="http://schemas.openxmlformats.org/officeDocument/2006/relationships/notesMaster"/><Relationship Id="rId28" Target="theme/theme2.xml" Type="http://schemas.openxmlformats.org/officeDocument/2006/relationships/theme"/><Relationship Id="rId29" Target="notesSlides/notesSlide1.xml" Type="http://schemas.openxmlformats.org/officeDocument/2006/relationships/note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notesSlides/notesSlide2.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Entrada cautivadora</a:t>
            </a:r>
          </a:p>
          <a:p>
            <a:r>
              <a:rPr lang="en-US"/>
              <a:t/>
            </a:r>
          </a:p>
          <a:p>
            <a:r>
              <a:rPr lang="en-US"/>
              <a:t>"Imaginen que es viernes, diez de la noche. Millones de personas están mirando series en nuestra plataforma. Todo funciona perfecto, hasta que necesitamos actualizar el sistema de recomendaciones. ¿Qué pasa si esa actualización falla con todos conectados? ¿Se corta la transmisión? Hoy, el Grupo 7 les va a mostrar cómo actualizar un sistema de alto tráfico en vivo, sin que nadie se dé cuenta."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Conclusio</a:t>
            </a:r>
          </a:p>
          <a:p>
            <a:r>
              <a:rPr lang="en-US"/>
              <a:t/>
            </a:r>
          </a:p>
          <a:p>
            <a:r>
              <a:rPr lang="en-US"/>
              <a:t>En un ecosistema de microservicios de alto tráfico que opera 24/7, es fundamental aceptar que las pruebas exhaustivas son imposibles. El éxito del despliegue no radica en intentar predecir todos los errores, sino en adoptar prácticas de Despliegue Continuo que mantengan el software siempre en un estado "entregable". Utilizar un enfoque flexible y escalable, como el despliegue Canary, permite lanzar la actualización por etapas para un grupo limitado de usuarios. Esto minimiza el riesgo, aislando las fallas locales para evitar que derriben el servicio global, lo cual es el principio clave de las arquitecturas orientadas a servicios.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VAG3YC3MSKw.mp4" Type="http://schemas.openxmlformats.org/officeDocument/2006/relationships/video"/><Relationship Id="rId4" Target="../media/VAG3YC3MSKw.mp4" Type="http://schemas.microsoft.com/office/2007/relationships/media"/></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VAG3YC3MSKw.mp4" Type="http://schemas.openxmlformats.org/officeDocument/2006/relationships/video"/><Relationship Id="rId4" Target="../media/VAG3YC3MSKw.mp4" Type="http://schemas.microsoft.com/office/2007/relationships/media"/></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VAG3YC3MSKw.mp4" Type="http://schemas.openxmlformats.org/officeDocument/2006/relationships/video"/><Relationship Id="rId4" Target="../media/VAG3YC3MSKw.mp4" Type="http://schemas.microsoft.com/office/2007/relationships/media"/></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descr="Fotografía real de una persona mirando televisión de noche que representa a los usuarios de una plataforma de streaming"/>
          <p:cNvSpPr/>
          <p:nvPr/>
        </p:nvSpPr>
        <p:spPr>
          <a:xfrm flipH="false" flipV="false" rot="0">
            <a:off x="10810875" y="1476375"/>
            <a:ext cx="6000750" cy="7334250"/>
          </a:xfrm>
          <a:custGeom>
            <a:avLst/>
            <a:gdLst/>
            <a:ahLst/>
            <a:cxnLst/>
            <a:rect r="r" b="b" t="t" l="l"/>
            <a:pathLst>
              <a:path h="7334250" w="6000750">
                <a:moveTo>
                  <a:pt x="0" y="0"/>
                </a:moveTo>
                <a:lnTo>
                  <a:pt x="6000750" y="0"/>
                </a:lnTo>
                <a:lnTo>
                  <a:pt x="6000750" y="7334250"/>
                </a:lnTo>
                <a:lnTo>
                  <a:pt x="0" y="7334250"/>
                </a:lnTo>
                <a:lnTo>
                  <a:pt x="0" y="0"/>
                </a:lnTo>
                <a:close/>
              </a:path>
            </a:pathLst>
          </a:custGeom>
          <a:blipFill>
            <a:blip r:embed="rId3"/>
            <a:stretch>
              <a:fillRect l="-2426" t="-4462" r="0" b="-44520"/>
            </a:stretch>
          </a:blipFill>
        </p:spPr>
      </p:sp>
      <p:sp>
        <p:nvSpPr>
          <p:cNvPr name="TextBox 3" id="3"/>
          <p:cNvSpPr txBox="true"/>
          <p:nvPr/>
        </p:nvSpPr>
        <p:spPr>
          <a:xfrm rot="0">
            <a:off x="1095375" y="1695450"/>
            <a:ext cx="8477250" cy="6515100"/>
          </a:xfrm>
          <a:prstGeom prst="rect">
            <a:avLst/>
          </a:prstGeom>
        </p:spPr>
        <p:txBody>
          <a:bodyPr anchor="t" rtlCol="false" tIns="0" lIns="0" bIns="0" rIns="0">
            <a:spAutoFit/>
          </a:bodyPr>
          <a:lstStyle/>
          <a:p>
            <a:pPr algn="ctr">
              <a:lnSpc>
                <a:spcPts val="5759"/>
              </a:lnSpc>
            </a:pPr>
            <a:r>
              <a:rPr lang="en-US" sz="4800" b="true">
                <a:solidFill>
                  <a:srgbClr val="C2410C"/>
                </a:solidFill>
                <a:latin typeface="Inter Bold"/>
                <a:ea typeface="Inter Bold"/>
                <a:cs typeface="Inter Bold"/>
                <a:sym typeface="Inter Bold"/>
              </a:rPr>
              <a:t>VIERNES · 22:00</a:t>
            </a:r>
          </a:p>
          <a:p>
            <a:pPr algn="ctr">
              <a:lnSpc>
                <a:spcPts val="5759"/>
              </a:lnSpc>
            </a:pPr>
          </a:p>
          <a:p>
            <a:pPr algn="ctr">
              <a:lnSpc>
                <a:spcPts val="5759"/>
              </a:lnSpc>
            </a:pPr>
            <a:r>
              <a:rPr lang="en-US" sz="4800">
                <a:solidFill>
                  <a:srgbClr val="0F172A"/>
                </a:solidFill>
                <a:latin typeface="Inter"/>
                <a:ea typeface="Inter"/>
                <a:cs typeface="Inter"/>
                <a:sym typeface="Inter"/>
              </a:rPr>
              <a:t>MILLONES CONECTADOS</a:t>
            </a:r>
          </a:p>
          <a:p>
            <a:pPr algn="ctr">
              <a:lnSpc>
                <a:spcPts val="5759"/>
              </a:lnSpc>
            </a:pPr>
            <a:r>
              <a:rPr lang="en-US" sz="4800">
                <a:solidFill>
                  <a:srgbClr val="0F172A"/>
                </a:solidFill>
                <a:latin typeface="Inter"/>
                <a:ea typeface="Inter"/>
                <a:cs typeface="Inter"/>
                <a:sym typeface="Inter"/>
              </a:rPr>
              <a:t>CAMBIO EN RECOMENDACIONES</a:t>
            </a:r>
          </a:p>
          <a:p>
            <a:pPr algn="ctr">
              <a:lnSpc>
                <a:spcPts val="5759"/>
              </a:lnSpc>
            </a:pPr>
          </a:p>
          <a:p>
            <a:pPr algn="ctr">
              <a:lnSpc>
                <a:spcPts val="5759"/>
              </a:lnSpc>
            </a:pPr>
            <a:r>
              <a:rPr lang="en-US" sz="4800">
                <a:solidFill>
                  <a:srgbClr val="0F172A"/>
                </a:solidFill>
                <a:latin typeface="Inter"/>
                <a:ea typeface="Inter"/>
                <a:cs typeface="Inter"/>
                <a:sym typeface="Inter"/>
              </a:rPr>
              <a:t>¿Cómo actualizamos</a:t>
            </a:r>
          </a:p>
          <a:p>
            <a:pPr algn="ctr">
              <a:lnSpc>
                <a:spcPts val="5759"/>
              </a:lnSpc>
            </a:pPr>
            <a:r>
              <a:rPr lang="en-US" sz="4800">
                <a:solidFill>
                  <a:srgbClr val="0F172A"/>
                </a:solidFill>
                <a:latin typeface="Inter"/>
                <a:ea typeface="Inter"/>
                <a:cs typeface="Inter"/>
                <a:sym typeface="Inter"/>
              </a:rPr>
              <a:t>sin afectar</a:t>
            </a:r>
          </a:p>
          <a:p>
            <a:pPr algn="ctr">
              <a:lnSpc>
                <a:spcPts val="5759"/>
              </a:lnSpc>
              <a:spcBef>
                <a:spcPct val="0"/>
              </a:spcBef>
            </a:pPr>
            <a:r>
              <a:rPr lang="en-US" sz="4800">
                <a:solidFill>
                  <a:srgbClr val="0F172A"/>
                </a:solidFill>
                <a:latin typeface="Inter"/>
                <a:ea typeface="Inter"/>
                <a:cs typeface="Inter"/>
                <a:sym typeface="Inter"/>
              </a:rPr>
              <a:t>la experiencia?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56947" y="32033"/>
            <a:ext cx="18231053" cy="10254967"/>
          </a:xfrm>
          <a:custGeom>
            <a:avLst/>
            <a:gdLst/>
            <a:ahLst/>
            <a:cxnLst/>
            <a:rect r="r" b="b" t="t" l="l"/>
            <a:pathLst>
              <a:path h="10254967" w="18231053">
                <a:moveTo>
                  <a:pt x="0" y="0"/>
                </a:moveTo>
                <a:lnTo>
                  <a:pt x="18231053" y="0"/>
                </a:lnTo>
                <a:lnTo>
                  <a:pt x="18231053" y="10254967"/>
                </a:lnTo>
                <a:lnTo>
                  <a:pt x="0" y="10254967"/>
                </a:lnTo>
                <a:lnTo>
                  <a:pt x="0" y="0"/>
                </a:lnTo>
                <a:close/>
              </a:path>
            </a:pathLst>
          </a:custGeom>
          <a:blipFill>
            <a:blip r:embed="rId2"/>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1259868" y="643660"/>
            <a:ext cx="15999432" cy="8999680"/>
          </a:xfrm>
          <a:custGeom>
            <a:avLst/>
            <a:gdLst/>
            <a:ahLst/>
            <a:cxnLst/>
            <a:rect r="r" b="b" t="t" l="l"/>
            <a:pathLst>
              <a:path h="8999680" w="15999432">
                <a:moveTo>
                  <a:pt x="0" y="0"/>
                </a:moveTo>
                <a:lnTo>
                  <a:pt x="15999432" y="0"/>
                </a:lnTo>
                <a:lnTo>
                  <a:pt x="15999432" y="8999680"/>
                </a:lnTo>
                <a:lnTo>
                  <a:pt x="0" y="8999680"/>
                </a:lnTo>
                <a:lnTo>
                  <a:pt x="0" y="0"/>
                </a:lnTo>
                <a:close/>
              </a:path>
            </a:pathLst>
          </a:custGeom>
          <a:blipFill>
            <a:blip r:embed="rId2"/>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6668" y="-76876"/>
            <a:ext cx="18424668" cy="10363876"/>
          </a:xfrm>
          <a:custGeom>
            <a:avLst/>
            <a:gdLst/>
            <a:ahLst/>
            <a:cxnLst/>
            <a:rect r="r" b="b" t="t" l="l"/>
            <a:pathLst>
              <a:path h="10363876" w="18424668">
                <a:moveTo>
                  <a:pt x="0" y="0"/>
                </a:moveTo>
                <a:lnTo>
                  <a:pt x="18424668" y="0"/>
                </a:lnTo>
                <a:lnTo>
                  <a:pt x="18424668" y="10363876"/>
                </a:lnTo>
                <a:lnTo>
                  <a:pt x="0" y="10363876"/>
                </a:lnTo>
                <a:lnTo>
                  <a:pt x="0" y="0"/>
                </a:lnTo>
                <a:close/>
              </a:path>
            </a:pathLst>
          </a:custGeom>
          <a:blipFill>
            <a:blip r:embed="rId2"/>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6286500" y="6953250"/>
            <a:ext cx="5715000" cy="3257527"/>
          </a:xfrm>
          <a:prstGeom prst="rect">
            <a:avLst/>
          </a:prstGeom>
        </p:spPr>
      </p:pic>
      <p:grpSp>
        <p:nvGrpSpPr>
          <p:cNvPr name="Group 3" id="3"/>
          <p:cNvGrpSpPr/>
          <p:nvPr/>
        </p:nvGrpSpPr>
        <p:grpSpPr>
          <a:xfrm rot="0">
            <a:off x="1428750" y="3333750"/>
            <a:ext cx="15430500" cy="1905000"/>
            <a:chOff x="0" y="0"/>
            <a:chExt cx="20574000" cy="2540000"/>
          </a:xfrm>
        </p:grpSpPr>
        <p:grpSp>
          <p:nvGrpSpPr>
            <p:cNvPr name="Group 4" id="4"/>
            <p:cNvGrpSpPr/>
            <p:nvPr/>
          </p:nvGrpSpPr>
          <p:grpSpPr>
            <a:xfrm rot="0">
              <a:off x="0" y="0"/>
              <a:ext cx="20574000" cy="762000"/>
              <a:chOff x="0" y="0"/>
              <a:chExt cx="4064000" cy="150519"/>
            </a:xfrm>
          </p:grpSpPr>
          <p:sp>
            <p:nvSpPr>
              <p:cNvPr name="Freeform 5" id="5"/>
              <p:cNvSpPr/>
              <p:nvPr/>
            </p:nvSpPr>
            <p:spPr>
              <a:xfrm flipH="false" flipV="false" rot="0">
                <a:off x="0" y="0"/>
                <a:ext cx="4064000" cy="150519"/>
              </a:xfrm>
              <a:custGeom>
                <a:avLst/>
                <a:gdLst/>
                <a:ahLst/>
                <a:cxnLst/>
                <a:rect r="r" b="b" t="t" l="l"/>
                <a:pathLst>
                  <a:path h="150519" w="4064000">
                    <a:moveTo>
                      <a:pt x="0" y="0"/>
                    </a:moveTo>
                    <a:lnTo>
                      <a:pt x="4064000" y="0"/>
                    </a:lnTo>
                    <a:lnTo>
                      <a:pt x="4064000" y="150519"/>
                    </a:lnTo>
                    <a:lnTo>
                      <a:pt x="0" y="150519"/>
                    </a:lnTo>
                    <a:close/>
                  </a:path>
                </a:pathLst>
              </a:custGeom>
              <a:solidFill>
                <a:srgbClr val="DBEAFE"/>
              </a:solidFill>
            </p:spPr>
          </p:sp>
          <p:sp>
            <p:nvSpPr>
              <p:cNvPr name="TextBox 6" id="6"/>
              <p:cNvSpPr txBox="true"/>
              <p:nvPr/>
            </p:nvSpPr>
            <p:spPr>
              <a:xfrm>
                <a:off x="0" y="-9525"/>
                <a:ext cx="4064000" cy="160044"/>
              </a:xfrm>
              <a:prstGeom prst="rect">
                <a:avLst/>
              </a:prstGeom>
            </p:spPr>
            <p:txBody>
              <a:bodyPr anchor="ctr" rtlCol="false" tIns="50800" lIns="50800" bIns="50800" rIns="50800"/>
              <a:lstStyle/>
              <a:p>
                <a:pPr algn="ctr">
                  <a:lnSpc>
                    <a:spcPts val="2970"/>
                  </a:lnSpc>
                </a:pPr>
              </a:p>
            </p:txBody>
          </p:sp>
        </p:grpSp>
        <p:grpSp>
          <p:nvGrpSpPr>
            <p:cNvPr name="Group 7" id="7"/>
            <p:cNvGrpSpPr/>
            <p:nvPr/>
          </p:nvGrpSpPr>
          <p:grpSpPr>
            <a:xfrm rot="0">
              <a:off x="0" y="889000"/>
              <a:ext cx="20574000" cy="762000"/>
              <a:chOff x="0" y="0"/>
              <a:chExt cx="4064000" cy="150519"/>
            </a:xfrm>
          </p:grpSpPr>
          <p:sp>
            <p:nvSpPr>
              <p:cNvPr name="Freeform 8" id="8"/>
              <p:cNvSpPr/>
              <p:nvPr/>
            </p:nvSpPr>
            <p:spPr>
              <a:xfrm flipH="false" flipV="false" rot="0">
                <a:off x="0" y="0"/>
                <a:ext cx="4064000" cy="150519"/>
              </a:xfrm>
              <a:custGeom>
                <a:avLst/>
                <a:gdLst/>
                <a:ahLst/>
                <a:cxnLst/>
                <a:rect r="r" b="b" t="t" l="l"/>
                <a:pathLst>
                  <a:path h="150519" w="4064000">
                    <a:moveTo>
                      <a:pt x="0" y="0"/>
                    </a:moveTo>
                    <a:lnTo>
                      <a:pt x="4064000" y="0"/>
                    </a:lnTo>
                    <a:lnTo>
                      <a:pt x="4064000" y="150519"/>
                    </a:lnTo>
                    <a:lnTo>
                      <a:pt x="0" y="150519"/>
                    </a:lnTo>
                    <a:close/>
                  </a:path>
                </a:pathLst>
              </a:custGeom>
              <a:solidFill>
                <a:srgbClr val="DBEAFE"/>
              </a:solidFill>
            </p:spPr>
          </p:sp>
          <p:sp>
            <p:nvSpPr>
              <p:cNvPr name="TextBox 9" id="9"/>
              <p:cNvSpPr txBox="true"/>
              <p:nvPr/>
            </p:nvSpPr>
            <p:spPr>
              <a:xfrm>
                <a:off x="0" y="-9525"/>
                <a:ext cx="4064000" cy="160044"/>
              </a:xfrm>
              <a:prstGeom prst="rect">
                <a:avLst/>
              </a:prstGeom>
            </p:spPr>
            <p:txBody>
              <a:bodyPr anchor="ctr" rtlCol="false" tIns="50800" lIns="50800" bIns="50800" rIns="50800"/>
              <a:lstStyle/>
              <a:p>
                <a:pPr algn="ctr">
                  <a:lnSpc>
                    <a:spcPts val="2970"/>
                  </a:lnSpc>
                </a:pPr>
              </a:p>
            </p:txBody>
          </p:sp>
        </p:grpSp>
        <p:grpSp>
          <p:nvGrpSpPr>
            <p:cNvPr name="Group 10" id="10"/>
            <p:cNvGrpSpPr/>
            <p:nvPr/>
          </p:nvGrpSpPr>
          <p:grpSpPr>
            <a:xfrm rot="0">
              <a:off x="0" y="1778000"/>
              <a:ext cx="20574000" cy="762000"/>
              <a:chOff x="0" y="0"/>
              <a:chExt cx="4064000" cy="150519"/>
            </a:xfrm>
          </p:grpSpPr>
          <p:sp>
            <p:nvSpPr>
              <p:cNvPr name="Freeform 11" id="11"/>
              <p:cNvSpPr/>
              <p:nvPr/>
            </p:nvSpPr>
            <p:spPr>
              <a:xfrm flipH="false" flipV="false" rot="0">
                <a:off x="0" y="0"/>
                <a:ext cx="4064000" cy="150519"/>
              </a:xfrm>
              <a:custGeom>
                <a:avLst/>
                <a:gdLst/>
                <a:ahLst/>
                <a:cxnLst/>
                <a:rect r="r" b="b" t="t" l="l"/>
                <a:pathLst>
                  <a:path h="150519" w="4064000">
                    <a:moveTo>
                      <a:pt x="0" y="0"/>
                    </a:moveTo>
                    <a:lnTo>
                      <a:pt x="4064000" y="0"/>
                    </a:lnTo>
                    <a:lnTo>
                      <a:pt x="4064000" y="150519"/>
                    </a:lnTo>
                    <a:lnTo>
                      <a:pt x="0" y="150519"/>
                    </a:lnTo>
                    <a:close/>
                  </a:path>
                </a:pathLst>
              </a:custGeom>
              <a:solidFill>
                <a:srgbClr val="DBEAFE"/>
              </a:solidFill>
            </p:spPr>
          </p:sp>
          <p:sp>
            <p:nvSpPr>
              <p:cNvPr name="TextBox 12" id="12"/>
              <p:cNvSpPr txBox="true"/>
              <p:nvPr/>
            </p:nvSpPr>
            <p:spPr>
              <a:xfrm>
                <a:off x="0" y="-9525"/>
                <a:ext cx="4064000" cy="160044"/>
              </a:xfrm>
              <a:prstGeom prst="rect">
                <a:avLst/>
              </a:prstGeom>
            </p:spPr>
            <p:txBody>
              <a:bodyPr anchor="ctr" rtlCol="false" tIns="50800" lIns="50800" bIns="50800" rIns="50800"/>
              <a:lstStyle/>
              <a:p>
                <a:pPr algn="ctr">
                  <a:lnSpc>
                    <a:spcPts val="2970"/>
                  </a:lnSpc>
                </a:pPr>
              </a:p>
            </p:txBody>
          </p:sp>
        </p:grpSp>
      </p:grpSp>
      <p:sp>
        <p:nvSpPr>
          <p:cNvPr name="TextBox 13" id="13"/>
          <p:cNvSpPr txBox="true"/>
          <p:nvPr/>
        </p:nvSpPr>
        <p:spPr>
          <a:xfrm rot="0">
            <a:off x="1213339" y="666750"/>
            <a:ext cx="15861323" cy="6000750"/>
          </a:xfrm>
          <a:prstGeom prst="rect">
            <a:avLst/>
          </a:prstGeom>
        </p:spPr>
        <p:txBody>
          <a:bodyPr anchor="t" rtlCol="false" tIns="0" lIns="0" bIns="0" rIns="0">
            <a:spAutoFit/>
          </a:bodyPr>
          <a:lstStyle/>
          <a:p>
            <a:pPr algn="ctr">
              <a:lnSpc>
                <a:spcPts val="5280"/>
              </a:lnSpc>
            </a:pPr>
            <a:r>
              <a:rPr lang="en-US" sz="4400">
                <a:solidFill>
                  <a:srgbClr val="0369A1"/>
                </a:solidFill>
                <a:latin typeface="Inter"/>
                <a:ea typeface="Inter"/>
                <a:cs typeface="Inter"/>
                <a:sym typeface="Inter"/>
              </a:rPr>
              <a:t>DESAFÍO FINAL · 1 DE 3</a:t>
            </a:r>
          </a:p>
          <a:p>
            <a:pPr algn="ctr">
              <a:lnSpc>
                <a:spcPts val="5280"/>
              </a:lnSpc>
            </a:pPr>
          </a:p>
          <a:p>
            <a:pPr algn="ctr">
              <a:lnSpc>
                <a:spcPts val="5280"/>
              </a:lnSpc>
            </a:pPr>
            <a:r>
              <a:rPr lang="en-US" sz="4400">
                <a:solidFill>
                  <a:srgbClr val="0369A1"/>
                </a:solidFill>
                <a:latin typeface="Inter"/>
                <a:ea typeface="Inter"/>
                <a:cs typeface="Inter"/>
                <a:sym typeface="Inter"/>
              </a:rPr>
              <a:t>¿Para qué sirve un despliegue Canary?</a:t>
            </a:r>
          </a:p>
          <a:p>
            <a:pPr algn="ctr">
              <a:lnSpc>
                <a:spcPts val="5280"/>
              </a:lnSpc>
            </a:pPr>
          </a:p>
          <a:p>
            <a:pPr algn="ctr">
              <a:lnSpc>
                <a:spcPts val="5280"/>
              </a:lnSpc>
            </a:pPr>
            <a:r>
              <a:rPr lang="en-US" sz="4400">
                <a:solidFill>
                  <a:srgbClr val="0369A1"/>
                </a:solidFill>
                <a:latin typeface="Inter"/>
                <a:ea typeface="Inter"/>
                <a:cs typeface="Inter"/>
                <a:sym typeface="Inter"/>
              </a:rPr>
              <a:t>A   Actualizar a todos al mismo tiempo.</a:t>
            </a:r>
          </a:p>
          <a:p>
            <a:pPr algn="ctr">
              <a:lnSpc>
                <a:spcPts val="5280"/>
              </a:lnSpc>
            </a:pPr>
            <a:r>
              <a:rPr lang="en-US" sz="4400">
                <a:solidFill>
                  <a:srgbClr val="0369A1"/>
                </a:solidFill>
                <a:latin typeface="Inter"/>
                <a:ea typeface="Inter"/>
                <a:cs typeface="Inter"/>
                <a:sym typeface="Inter"/>
              </a:rPr>
              <a:t>B   Probar la nueva versión con un grupo pequeño.</a:t>
            </a:r>
          </a:p>
          <a:p>
            <a:pPr algn="ctr">
              <a:lnSpc>
                <a:spcPts val="5280"/>
              </a:lnSpc>
            </a:pPr>
            <a:r>
              <a:rPr lang="en-US" sz="4400">
                <a:solidFill>
                  <a:srgbClr val="0369A1"/>
                </a:solidFill>
                <a:latin typeface="Inter"/>
                <a:ea typeface="Inter"/>
                <a:cs typeface="Inter"/>
                <a:sym typeface="Inter"/>
              </a:rPr>
              <a:t>C   Apagar el sistema para actualizar.</a:t>
            </a:r>
          </a:p>
          <a:p>
            <a:pPr algn="ctr">
              <a:lnSpc>
                <a:spcPts val="5280"/>
              </a:lnSpc>
            </a:pPr>
          </a:p>
          <a:p>
            <a:pPr algn="ctr">
              <a:lnSpc>
                <a:spcPts val="5280"/>
              </a:lnSpc>
              <a:spcBef>
                <a:spcPct val="0"/>
              </a:spcBef>
            </a:pPr>
            <a:r>
              <a:rPr lang="en-US" sz="4400">
                <a:solidFill>
                  <a:srgbClr val="0369A1"/>
                </a:solidFill>
                <a:latin typeface="Inter"/>
                <a:ea typeface="Inter"/>
                <a:cs typeface="Inter"/>
                <a:sym typeface="Inter"/>
              </a:rPr>
              <a:t>10 SEGUNDOS · ELEGÍ A, B O C</a:t>
            </a:r>
          </a:p>
        </p:txBody>
      </p:sp>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17.xml><?xml version="1.0" encoding="utf-8"?>
<p:sld xmlns:p="http://schemas.openxmlformats.org/presentationml/2006/main" xmlns:a="http://schemas.openxmlformats.org/drawingml/2006/main">
  <p:cSld>
    <p:bg>
      <p:bgPr>
        <a:solidFill>
          <a:srgbClr val="F8FAFC"/>
        </a:solidFill>
      </p:bgPr>
    </p:bg>
    <p:spTree>
      <p:nvGrpSpPr>
        <p:cNvPr id="1" name=""/>
        <p:cNvGrpSpPr/>
        <p:nvPr/>
      </p:nvGrpSpPr>
      <p:grpSpPr>
        <a:xfrm>
          <a:off x="0" y="0"/>
          <a:ext cx="0" cy="0"/>
          <a:chOff x="0" y="0"/>
          <a:chExt cx="0" cy="0"/>
        </a:xfrm>
      </p:grpSpPr>
      <p:sp>
        <p:nvSpPr>
          <p:cNvPr name="TextBox 2" id="2"/>
          <p:cNvSpPr txBox="true"/>
          <p:nvPr/>
        </p:nvSpPr>
        <p:spPr>
          <a:xfrm rot="0">
            <a:off x="1213339" y="1333500"/>
            <a:ext cx="15861323" cy="6000750"/>
          </a:xfrm>
          <a:prstGeom prst="rect">
            <a:avLst/>
          </a:prstGeom>
        </p:spPr>
        <p:txBody>
          <a:bodyPr anchor="t" rtlCol="false" tIns="0" lIns="0" bIns="0" rIns="0">
            <a:spAutoFit/>
          </a:bodyPr>
          <a:lstStyle/>
          <a:p>
            <a:pPr algn="ctr">
              <a:lnSpc>
                <a:spcPts val="5280"/>
              </a:lnSpc>
            </a:pPr>
            <a:r>
              <a:rPr lang="en-US" sz="4400" b="true">
                <a:solidFill>
                  <a:srgbClr val="C2410C"/>
                </a:solidFill>
                <a:latin typeface="Inter Bold"/>
                <a:ea typeface="Inter Bold"/>
                <a:cs typeface="Inter Bold"/>
                <a:sym typeface="Inter Bold"/>
              </a:rPr>
              <a:t>R</a:t>
            </a:r>
            <a:r>
              <a:rPr lang="en-US" sz="4400" b="true">
                <a:solidFill>
                  <a:srgbClr val="C2410C"/>
                </a:solidFill>
                <a:latin typeface="Inter Bold"/>
                <a:ea typeface="Inter Bold"/>
                <a:cs typeface="Inter Bold"/>
                <a:sym typeface="Inter Bold"/>
              </a:rPr>
              <a:t>ESPUESTA CORRECTA · B</a:t>
            </a:r>
          </a:p>
          <a:p>
            <a:pPr algn="ctr">
              <a:lnSpc>
                <a:spcPts val="5280"/>
              </a:lnSpc>
            </a:pPr>
          </a:p>
          <a:p>
            <a:pPr algn="ctr">
              <a:lnSpc>
                <a:spcPts val="5280"/>
              </a:lnSpc>
            </a:pPr>
            <a:r>
              <a:rPr lang="en-US" sz="4400">
                <a:solidFill>
                  <a:srgbClr val="0369A1"/>
                </a:solidFill>
                <a:latin typeface="Inter"/>
                <a:ea typeface="Inter"/>
                <a:cs typeface="Inter"/>
                <a:sym typeface="Inter"/>
              </a:rPr>
              <a:t>Probar la nueva versión</a:t>
            </a:r>
          </a:p>
          <a:p>
            <a:pPr algn="ctr">
              <a:lnSpc>
                <a:spcPts val="5280"/>
              </a:lnSpc>
            </a:pPr>
            <a:r>
              <a:rPr lang="en-US" sz="4400">
                <a:solidFill>
                  <a:srgbClr val="0369A1"/>
                </a:solidFill>
                <a:latin typeface="Inter"/>
                <a:ea typeface="Inter"/>
                <a:cs typeface="Inter"/>
                <a:sym typeface="Inter"/>
              </a:rPr>
              <a:t>con un grupo pequeño de usuarios.</a:t>
            </a:r>
          </a:p>
          <a:p>
            <a:pPr algn="ctr">
              <a:lnSpc>
                <a:spcPts val="5280"/>
              </a:lnSpc>
            </a:pPr>
          </a:p>
          <a:p>
            <a:pPr algn="ctr">
              <a:lnSpc>
                <a:spcPts val="5280"/>
              </a:lnSpc>
            </a:pPr>
            <a:r>
              <a:rPr lang="en-US" sz="4400">
                <a:solidFill>
                  <a:srgbClr val="0369A1"/>
                </a:solidFill>
                <a:latin typeface="Inter"/>
                <a:ea typeface="Inter"/>
                <a:cs typeface="Inter"/>
                <a:sym typeface="Inter"/>
              </a:rPr>
              <a:t>CANARY RELEASE</a:t>
            </a:r>
          </a:p>
          <a:p>
            <a:pPr algn="ctr">
              <a:lnSpc>
                <a:spcPts val="5280"/>
              </a:lnSpc>
            </a:pPr>
            <a:r>
              <a:rPr lang="en-US" sz="4400">
                <a:solidFill>
                  <a:srgbClr val="0369A1"/>
                </a:solidFill>
                <a:latin typeface="Inter"/>
                <a:ea typeface="Inter"/>
                <a:cs typeface="Inter"/>
                <a:sym typeface="Inter"/>
              </a:rPr>
              <a:t>Detectamos problemas antes de ampliar el despliegue.</a:t>
            </a:r>
          </a:p>
          <a:p>
            <a:pPr algn="ctr">
              <a:lnSpc>
                <a:spcPts val="5280"/>
              </a:lnSpc>
            </a:pPr>
          </a:p>
          <a:p>
            <a:pPr algn="ctr">
              <a:lnSpc>
                <a:spcPts val="5280"/>
              </a:lnSpc>
              <a:spcBef>
                <a:spcPct val="0"/>
              </a:spcBef>
            </a:pPr>
            <a:r>
              <a:rPr lang="en-US" sz="4400">
                <a:solidFill>
                  <a:srgbClr val="0369A1"/>
                </a:solidFill>
                <a:latin typeface="Inter"/>
                <a:ea typeface="Inter"/>
                <a:cs typeface="Inter"/>
                <a:sym typeface="Inter"/>
              </a:rPr>
              <a:t>1 PREGUNTA · 1 PREMIO</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1428750" y="3333750"/>
            <a:ext cx="15430500" cy="1905000"/>
            <a:chOff x="0" y="0"/>
            <a:chExt cx="20574000" cy="2540000"/>
          </a:xfrm>
        </p:grpSpPr>
        <p:grpSp>
          <p:nvGrpSpPr>
            <p:cNvPr name="Group 3" id="3"/>
            <p:cNvGrpSpPr/>
            <p:nvPr/>
          </p:nvGrpSpPr>
          <p:grpSpPr>
            <a:xfrm rot="0">
              <a:off x="0" y="0"/>
              <a:ext cx="20574000" cy="762000"/>
              <a:chOff x="0" y="0"/>
              <a:chExt cx="4064000" cy="150519"/>
            </a:xfrm>
          </p:grpSpPr>
          <p:sp>
            <p:nvSpPr>
              <p:cNvPr name="Freeform 4" id="4"/>
              <p:cNvSpPr/>
              <p:nvPr/>
            </p:nvSpPr>
            <p:spPr>
              <a:xfrm flipH="false" flipV="false" rot="0">
                <a:off x="0" y="0"/>
                <a:ext cx="4064000" cy="150519"/>
              </a:xfrm>
              <a:custGeom>
                <a:avLst/>
                <a:gdLst/>
                <a:ahLst/>
                <a:cxnLst/>
                <a:rect r="r" b="b" t="t" l="l"/>
                <a:pathLst>
                  <a:path h="150519" w="4064000">
                    <a:moveTo>
                      <a:pt x="0" y="0"/>
                    </a:moveTo>
                    <a:lnTo>
                      <a:pt x="4064000" y="0"/>
                    </a:lnTo>
                    <a:lnTo>
                      <a:pt x="4064000" y="150519"/>
                    </a:lnTo>
                    <a:lnTo>
                      <a:pt x="0" y="150519"/>
                    </a:lnTo>
                    <a:close/>
                  </a:path>
                </a:pathLst>
              </a:custGeom>
              <a:solidFill>
                <a:srgbClr val="DBEAFE"/>
              </a:solidFill>
            </p:spPr>
          </p:sp>
          <p:sp>
            <p:nvSpPr>
              <p:cNvPr name="TextBox 5" id="5"/>
              <p:cNvSpPr txBox="true"/>
              <p:nvPr/>
            </p:nvSpPr>
            <p:spPr>
              <a:xfrm>
                <a:off x="0" y="-9525"/>
                <a:ext cx="4064000" cy="160044"/>
              </a:xfrm>
              <a:prstGeom prst="rect">
                <a:avLst/>
              </a:prstGeom>
            </p:spPr>
            <p:txBody>
              <a:bodyPr anchor="ctr" rtlCol="false" tIns="50800" lIns="50800" bIns="50800" rIns="50800"/>
              <a:lstStyle/>
              <a:p>
                <a:pPr algn="ctr">
                  <a:lnSpc>
                    <a:spcPts val="2970"/>
                  </a:lnSpc>
                </a:pPr>
              </a:p>
            </p:txBody>
          </p:sp>
        </p:grpSp>
        <p:grpSp>
          <p:nvGrpSpPr>
            <p:cNvPr name="Group 6" id="6"/>
            <p:cNvGrpSpPr/>
            <p:nvPr/>
          </p:nvGrpSpPr>
          <p:grpSpPr>
            <a:xfrm rot="0">
              <a:off x="0" y="889000"/>
              <a:ext cx="20574000" cy="762000"/>
              <a:chOff x="0" y="0"/>
              <a:chExt cx="4064000" cy="150519"/>
            </a:xfrm>
          </p:grpSpPr>
          <p:sp>
            <p:nvSpPr>
              <p:cNvPr name="Freeform 7" id="7"/>
              <p:cNvSpPr/>
              <p:nvPr/>
            </p:nvSpPr>
            <p:spPr>
              <a:xfrm flipH="false" flipV="false" rot="0">
                <a:off x="0" y="0"/>
                <a:ext cx="4064000" cy="150519"/>
              </a:xfrm>
              <a:custGeom>
                <a:avLst/>
                <a:gdLst/>
                <a:ahLst/>
                <a:cxnLst/>
                <a:rect r="r" b="b" t="t" l="l"/>
                <a:pathLst>
                  <a:path h="150519" w="4064000">
                    <a:moveTo>
                      <a:pt x="0" y="0"/>
                    </a:moveTo>
                    <a:lnTo>
                      <a:pt x="4064000" y="0"/>
                    </a:lnTo>
                    <a:lnTo>
                      <a:pt x="4064000" y="150519"/>
                    </a:lnTo>
                    <a:lnTo>
                      <a:pt x="0" y="150519"/>
                    </a:lnTo>
                    <a:close/>
                  </a:path>
                </a:pathLst>
              </a:custGeom>
              <a:solidFill>
                <a:srgbClr val="DBEAFE"/>
              </a:solidFill>
            </p:spPr>
          </p:sp>
          <p:sp>
            <p:nvSpPr>
              <p:cNvPr name="TextBox 8" id="8"/>
              <p:cNvSpPr txBox="true"/>
              <p:nvPr/>
            </p:nvSpPr>
            <p:spPr>
              <a:xfrm>
                <a:off x="0" y="-9525"/>
                <a:ext cx="4064000" cy="160044"/>
              </a:xfrm>
              <a:prstGeom prst="rect">
                <a:avLst/>
              </a:prstGeom>
            </p:spPr>
            <p:txBody>
              <a:bodyPr anchor="ctr" rtlCol="false" tIns="50800" lIns="50800" bIns="50800" rIns="50800"/>
              <a:lstStyle/>
              <a:p>
                <a:pPr algn="ctr">
                  <a:lnSpc>
                    <a:spcPts val="2970"/>
                  </a:lnSpc>
                </a:pPr>
              </a:p>
            </p:txBody>
          </p:sp>
        </p:grpSp>
        <p:grpSp>
          <p:nvGrpSpPr>
            <p:cNvPr name="Group 9" id="9"/>
            <p:cNvGrpSpPr/>
            <p:nvPr/>
          </p:nvGrpSpPr>
          <p:grpSpPr>
            <a:xfrm rot="0">
              <a:off x="0" y="1778000"/>
              <a:ext cx="20574000" cy="762000"/>
              <a:chOff x="0" y="0"/>
              <a:chExt cx="4064000" cy="150519"/>
            </a:xfrm>
          </p:grpSpPr>
          <p:sp>
            <p:nvSpPr>
              <p:cNvPr name="Freeform 10" id="10"/>
              <p:cNvSpPr/>
              <p:nvPr/>
            </p:nvSpPr>
            <p:spPr>
              <a:xfrm flipH="false" flipV="false" rot="0">
                <a:off x="0" y="0"/>
                <a:ext cx="4064000" cy="150519"/>
              </a:xfrm>
              <a:custGeom>
                <a:avLst/>
                <a:gdLst/>
                <a:ahLst/>
                <a:cxnLst/>
                <a:rect r="r" b="b" t="t" l="l"/>
                <a:pathLst>
                  <a:path h="150519" w="4064000">
                    <a:moveTo>
                      <a:pt x="0" y="0"/>
                    </a:moveTo>
                    <a:lnTo>
                      <a:pt x="4064000" y="0"/>
                    </a:lnTo>
                    <a:lnTo>
                      <a:pt x="4064000" y="150519"/>
                    </a:lnTo>
                    <a:lnTo>
                      <a:pt x="0" y="150519"/>
                    </a:lnTo>
                    <a:close/>
                  </a:path>
                </a:pathLst>
              </a:custGeom>
              <a:solidFill>
                <a:srgbClr val="DBEAFE"/>
              </a:solidFill>
            </p:spPr>
          </p:sp>
          <p:sp>
            <p:nvSpPr>
              <p:cNvPr name="TextBox 11" id="11"/>
              <p:cNvSpPr txBox="true"/>
              <p:nvPr/>
            </p:nvSpPr>
            <p:spPr>
              <a:xfrm>
                <a:off x="0" y="-9525"/>
                <a:ext cx="4064000" cy="160044"/>
              </a:xfrm>
              <a:prstGeom prst="rect">
                <a:avLst/>
              </a:prstGeom>
            </p:spPr>
            <p:txBody>
              <a:bodyPr anchor="ctr" rtlCol="false" tIns="50800" lIns="50800" bIns="50800" rIns="50800"/>
              <a:lstStyle/>
              <a:p>
                <a:pPr algn="ctr">
                  <a:lnSpc>
                    <a:spcPts val="2970"/>
                  </a:lnSpc>
                </a:pPr>
              </a:p>
            </p:txBody>
          </p:sp>
        </p:grpSp>
      </p:grpSp>
      <p:sp>
        <p:nvSpPr>
          <p:cNvPr name="TextBox 12" id="12"/>
          <p:cNvSpPr txBox="true"/>
          <p:nvPr/>
        </p:nvSpPr>
        <p:spPr>
          <a:xfrm rot="0">
            <a:off x="1213339" y="666750"/>
            <a:ext cx="15861323" cy="6000750"/>
          </a:xfrm>
          <a:prstGeom prst="rect">
            <a:avLst/>
          </a:prstGeom>
        </p:spPr>
        <p:txBody>
          <a:bodyPr anchor="t" rtlCol="false" tIns="0" lIns="0" bIns="0" rIns="0">
            <a:spAutoFit/>
          </a:bodyPr>
          <a:lstStyle/>
          <a:p>
            <a:pPr algn="ctr">
              <a:lnSpc>
                <a:spcPts val="5280"/>
              </a:lnSpc>
            </a:pPr>
            <a:r>
              <a:rPr lang="en-US" sz="4400">
                <a:solidFill>
                  <a:srgbClr val="0369A1"/>
                </a:solidFill>
                <a:latin typeface="Inter"/>
                <a:ea typeface="Inter"/>
                <a:cs typeface="Inter"/>
                <a:sym typeface="Inter"/>
              </a:rPr>
              <a:t>D</a:t>
            </a:r>
            <a:r>
              <a:rPr lang="en-US" sz="4400">
                <a:solidFill>
                  <a:srgbClr val="0369A1"/>
                </a:solidFill>
                <a:latin typeface="Inter"/>
                <a:ea typeface="Inter"/>
                <a:cs typeface="Inter"/>
                <a:sym typeface="Inter"/>
              </a:rPr>
              <a:t>ESAFÍO FINAL · 2 DE 3</a:t>
            </a:r>
          </a:p>
          <a:p>
            <a:pPr algn="ctr">
              <a:lnSpc>
                <a:spcPts val="5280"/>
              </a:lnSpc>
            </a:pPr>
          </a:p>
          <a:p>
            <a:pPr algn="ctr">
              <a:lnSpc>
                <a:spcPts val="5280"/>
              </a:lnSpc>
            </a:pPr>
            <a:r>
              <a:rPr lang="en-US" sz="4400">
                <a:solidFill>
                  <a:srgbClr val="0369A1"/>
                </a:solidFill>
                <a:latin typeface="Inter"/>
                <a:ea typeface="Inter"/>
                <a:cs typeface="Inter"/>
                <a:sym typeface="Inter"/>
              </a:rPr>
              <a:t>Si la nueva versión falla, ¿qué permite un rollback?</a:t>
            </a:r>
          </a:p>
          <a:p>
            <a:pPr algn="ctr">
              <a:lnSpc>
                <a:spcPts val="5280"/>
              </a:lnSpc>
            </a:pPr>
          </a:p>
          <a:p>
            <a:pPr algn="ctr">
              <a:lnSpc>
                <a:spcPts val="5280"/>
              </a:lnSpc>
            </a:pPr>
            <a:r>
              <a:rPr lang="en-US" sz="4400">
                <a:solidFill>
                  <a:srgbClr val="0369A1"/>
                </a:solidFill>
                <a:latin typeface="Inter"/>
                <a:ea typeface="Inter"/>
                <a:cs typeface="Inter"/>
                <a:sym typeface="Inter"/>
              </a:rPr>
              <a:t>A   Volver a la versión anterior que funcionaba.</a:t>
            </a:r>
          </a:p>
          <a:p>
            <a:pPr algn="ctr">
              <a:lnSpc>
                <a:spcPts val="5280"/>
              </a:lnSpc>
            </a:pPr>
            <a:r>
              <a:rPr lang="en-US" sz="4400">
                <a:solidFill>
                  <a:srgbClr val="0369A1"/>
                </a:solidFill>
                <a:latin typeface="Inter"/>
                <a:ea typeface="Inter"/>
                <a:cs typeface="Inter"/>
                <a:sym typeface="Inter"/>
              </a:rPr>
              <a:t>B   Enviar más usuarios a la versión que falla.</a:t>
            </a:r>
          </a:p>
          <a:p>
            <a:pPr algn="ctr">
              <a:lnSpc>
                <a:spcPts val="5280"/>
              </a:lnSpc>
            </a:pPr>
            <a:r>
              <a:rPr lang="en-US" sz="4400">
                <a:solidFill>
                  <a:srgbClr val="0369A1"/>
                </a:solidFill>
                <a:latin typeface="Inter"/>
                <a:ea typeface="Inter"/>
                <a:cs typeface="Inter"/>
                <a:sym typeface="Inter"/>
              </a:rPr>
              <a:t>C   Desactivar el monitoreo.</a:t>
            </a:r>
          </a:p>
          <a:p>
            <a:pPr algn="ctr">
              <a:lnSpc>
                <a:spcPts val="5280"/>
              </a:lnSpc>
            </a:pPr>
          </a:p>
          <a:p>
            <a:pPr algn="ctr">
              <a:lnSpc>
                <a:spcPts val="5280"/>
              </a:lnSpc>
              <a:spcBef>
                <a:spcPct val="0"/>
              </a:spcBef>
            </a:pPr>
            <a:r>
              <a:rPr lang="en-US" sz="4400">
                <a:solidFill>
                  <a:srgbClr val="0369A1"/>
                </a:solidFill>
                <a:latin typeface="Inter"/>
                <a:ea typeface="Inter"/>
                <a:cs typeface="Inter"/>
                <a:sym typeface="Inter"/>
              </a:rPr>
              <a:t>10 SEGUNDOS · ELEGÍ A, B O C</a:t>
            </a:r>
          </a:p>
        </p:txBody>
      </p:sp>
      <p:pic>
        <p:nvPicPr>
          <p:cNvPr name="Picture 13" id="13">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6286500" y="6953250"/>
            <a:ext cx="5715000" cy="3257527"/>
          </a:xfrm>
          <a:prstGeom prst="rect">
            <a:avLst/>
          </a:prstGeom>
        </p:spPr>
      </p:pic>
    </p:spTree>
  </p:cSld>
  <p:clrMapOvr>
    <a:masterClrMapping/>
  </p:clrMapOvr>
  <p:timing>
    <p:tnLst>
      <p:par>
        <p:cTn dur="indefinite" restart="never" nodeType="tmRoot">
          <p:childTnLst>
            <p:video>
              <p:cMediaNode vol="100000">
                <p:cTn fill="hold" display="false">
                  <p:stCondLst>
                    <p:cond delay="indefinite"/>
                  </p:stCondLst>
                </p:cTn>
                <p:tgtEl>
                  <p:spTgt spid="13"/>
                </p:tgtEl>
              </p:cMediaNode>
            </p:video>
          </p:childTnLst>
        </p:cTn>
      </p:par>
    </p:tnLst>
  </p:timing>
</p:sld>
</file>

<file path=ppt/slides/slide19.xml><?xml version="1.0" encoding="utf-8"?>
<p:sld xmlns:p="http://schemas.openxmlformats.org/presentationml/2006/main" xmlns:a="http://schemas.openxmlformats.org/drawingml/2006/main">
  <p:cSld>
    <p:bg>
      <p:bgPr>
        <a:solidFill>
          <a:srgbClr val="F8FAFC"/>
        </a:solidFill>
      </p:bgPr>
    </p:bg>
    <p:spTree>
      <p:nvGrpSpPr>
        <p:cNvPr id="1" name=""/>
        <p:cNvGrpSpPr/>
        <p:nvPr/>
      </p:nvGrpSpPr>
      <p:grpSpPr>
        <a:xfrm>
          <a:off x="0" y="0"/>
          <a:ext cx="0" cy="0"/>
          <a:chOff x="0" y="0"/>
          <a:chExt cx="0" cy="0"/>
        </a:xfrm>
      </p:grpSpPr>
      <p:sp>
        <p:nvSpPr>
          <p:cNvPr name="TextBox 2" id="2"/>
          <p:cNvSpPr txBox="true"/>
          <p:nvPr/>
        </p:nvSpPr>
        <p:spPr>
          <a:xfrm rot="0">
            <a:off x="1213339" y="1333500"/>
            <a:ext cx="15861323" cy="6000750"/>
          </a:xfrm>
          <a:prstGeom prst="rect">
            <a:avLst/>
          </a:prstGeom>
        </p:spPr>
        <p:txBody>
          <a:bodyPr anchor="t" rtlCol="false" tIns="0" lIns="0" bIns="0" rIns="0">
            <a:spAutoFit/>
          </a:bodyPr>
          <a:lstStyle/>
          <a:p>
            <a:pPr algn="ctr">
              <a:lnSpc>
                <a:spcPts val="5280"/>
              </a:lnSpc>
            </a:pPr>
            <a:r>
              <a:rPr lang="en-US" sz="4400" b="true">
                <a:solidFill>
                  <a:srgbClr val="C2410C"/>
                </a:solidFill>
                <a:latin typeface="Inter Bold"/>
                <a:ea typeface="Inter Bold"/>
                <a:cs typeface="Inter Bold"/>
                <a:sym typeface="Inter Bold"/>
              </a:rPr>
              <a:t>R</a:t>
            </a:r>
            <a:r>
              <a:rPr lang="en-US" sz="4400" b="true">
                <a:solidFill>
                  <a:srgbClr val="C2410C"/>
                </a:solidFill>
                <a:latin typeface="Inter Bold"/>
                <a:ea typeface="Inter Bold"/>
                <a:cs typeface="Inter Bold"/>
                <a:sym typeface="Inter Bold"/>
              </a:rPr>
              <a:t>ESPUESTA CORRECTA · A</a:t>
            </a:r>
          </a:p>
          <a:p>
            <a:pPr algn="ctr">
              <a:lnSpc>
                <a:spcPts val="5280"/>
              </a:lnSpc>
            </a:pPr>
          </a:p>
          <a:p>
            <a:pPr algn="ctr">
              <a:lnSpc>
                <a:spcPts val="5280"/>
              </a:lnSpc>
            </a:pPr>
            <a:r>
              <a:rPr lang="en-US" sz="4400">
                <a:solidFill>
                  <a:srgbClr val="0369A1"/>
                </a:solidFill>
                <a:latin typeface="Inter"/>
                <a:ea typeface="Inter"/>
                <a:cs typeface="Inter"/>
                <a:sym typeface="Inter"/>
              </a:rPr>
              <a:t>Volver a la versión anterior</a:t>
            </a:r>
          </a:p>
          <a:p>
            <a:pPr algn="ctr">
              <a:lnSpc>
                <a:spcPts val="5280"/>
              </a:lnSpc>
            </a:pPr>
            <a:r>
              <a:rPr lang="en-US" sz="4400">
                <a:solidFill>
                  <a:srgbClr val="0369A1"/>
                </a:solidFill>
                <a:latin typeface="Inter"/>
                <a:ea typeface="Inter"/>
                <a:cs typeface="Inter"/>
                <a:sym typeface="Inter"/>
              </a:rPr>
              <a:t>que funcionaba correctamente.</a:t>
            </a:r>
          </a:p>
          <a:p>
            <a:pPr algn="ctr">
              <a:lnSpc>
                <a:spcPts val="5280"/>
              </a:lnSpc>
            </a:pPr>
          </a:p>
          <a:p>
            <a:pPr algn="ctr">
              <a:lnSpc>
                <a:spcPts val="5280"/>
              </a:lnSpc>
            </a:pPr>
            <a:r>
              <a:rPr lang="en-US" sz="4400">
                <a:solidFill>
                  <a:srgbClr val="0369A1"/>
                </a:solidFill>
                <a:latin typeface="Inter"/>
                <a:ea typeface="Inter"/>
                <a:cs typeface="Inter"/>
                <a:sym typeface="Inter"/>
              </a:rPr>
              <a:t>ROLLBACK</a:t>
            </a:r>
          </a:p>
          <a:p>
            <a:pPr algn="ctr">
              <a:lnSpc>
                <a:spcPts val="5280"/>
              </a:lnSpc>
            </a:pPr>
            <a:r>
              <a:rPr lang="en-US" sz="4400">
                <a:solidFill>
                  <a:srgbClr val="0369A1"/>
                </a:solidFill>
                <a:latin typeface="Inter"/>
                <a:ea typeface="Inter"/>
                <a:cs typeface="Inter"/>
                <a:sym typeface="Inter"/>
              </a:rPr>
              <a:t>Recuperamos el servicio y luego investigamos la falla.</a:t>
            </a:r>
          </a:p>
          <a:p>
            <a:pPr algn="ctr">
              <a:lnSpc>
                <a:spcPts val="5280"/>
              </a:lnSpc>
            </a:pPr>
          </a:p>
          <a:p>
            <a:pPr algn="ctr">
              <a:lnSpc>
                <a:spcPts val="5280"/>
              </a:lnSpc>
              <a:spcBef>
                <a:spcPct val="0"/>
              </a:spcBef>
            </a:pPr>
            <a:r>
              <a:rPr lang="en-US" sz="4400">
                <a:solidFill>
                  <a:srgbClr val="0369A1"/>
                </a:solidFill>
                <a:latin typeface="Inter"/>
                <a:ea typeface="Inter"/>
                <a:cs typeface="Inter"/>
                <a:sym typeface="Inter"/>
              </a:rPr>
              <a:t>1 PREGUNTA · 1 PREMIO</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1428750" y="3333750"/>
            <a:ext cx="15430500" cy="1905000"/>
            <a:chOff x="0" y="0"/>
            <a:chExt cx="20574000" cy="2540000"/>
          </a:xfrm>
        </p:grpSpPr>
        <p:grpSp>
          <p:nvGrpSpPr>
            <p:cNvPr name="Group 3" id="3"/>
            <p:cNvGrpSpPr/>
            <p:nvPr/>
          </p:nvGrpSpPr>
          <p:grpSpPr>
            <a:xfrm rot="0">
              <a:off x="0" y="0"/>
              <a:ext cx="20574000" cy="762000"/>
              <a:chOff x="0" y="0"/>
              <a:chExt cx="4064000" cy="150519"/>
            </a:xfrm>
          </p:grpSpPr>
          <p:sp>
            <p:nvSpPr>
              <p:cNvPr name="Freeform 4" id="4"/>
              <p:cNvSpPr/>
              <p:nvPr/>
            </p:nvSpPr>
            <p:spPr>
              <a:xfrm flipH="false" flipV="false" rot="0">
                <a:off x="0" y="0"/>
                <a:ext cx="4064000" cy="150519"/>
              </a:xfrm>
              <a:custGeom>
                <a:avLst/>
                <a:gdLst/>
                <a:ahLst/>
                <a:cxnLst/>
                <a:rect r="r" b="b" t="t" l="l"/>
                <a:pathLst>
                  <a:path h="150519" w="4064000">
                    <a:moveTo>
                      <a:pt x="0" y="0"/>
                    </a:moveTo>
                    <a:lnTo>
                      <a:pt x="4064000" y="0"/>
                    </a:lnTo>
                    <a:lnTo>
                      <a:pt x="4064000" y="150519"/>
                    </a:lnTo>
                    <a:lnTo>
                      <a:pt x="0" y="150519"/>
                    </a:lnTo>
                    <a:close/>
                  </a:path>
                </a:pathLst>
              </a:custGeom>
              <a:solidFill>
                <a:srgbClr val="DBEAFE"/>
              </a:solidFill>
            </p:spPr>
          </p:sp>
          <p:sp>
            <p:nvSpPr>
              <p:cNvPr name="TextBox 5" id="5"/>
              <p:cNvSpPr txBox="true"/>
              <p:nvPr/>
            </p:nvSpPr>
            <p:spPr>
              <a:xfrm>
                <a:off x="0" y="-9525"/>
                <a:ext cx="4064000" cy="160044"/>
              </a:xfrm>
              <a:prstGeom prst="rect">
                <a:avLst/>
              </a:prstGeom>
            </p:spPr>
            <p:txBody>
              <a:bodyPr anchor="ctr" rtlCol="false" tIns="50800" lIns="50800" bIns="50800" rIns="50800"/>
              <a:lstStyle/>
              <a:p>
                <a:pPr algn="ctr">
                  <a:lnSpc>
                    <a:spcPts val="2970"/>
                  </a:lnSpc>
                </a:pPr>
              </a:p>
            </p:txBody>
          </p:sp>
        </p:grpSp>
        <p:grpSp>
          <p:nvGrpSpPr>
            <p:cNvPr name="Group 6" id="6"/>
            <p:cNvGrpSpPr/>
            <p:nvPr/>
          </p:nvGrpSpPr>
          <p:grpSpPr>
            <a:xfrm rot="0">
              <a:off x="0" y="889000"/>
              <a:ext cx="20574000" cy="762000"/>
              <a:chOff x="0" y="0"/>
              <a:chExt cx="4064000" cy="150519"/>
            </a:xfrm>
          </p:grpSpPr>
          <p:sp>
            <p:nvSpPr>
              <p:cNvPr name="Freeform 7" id="7"/>
              <p:cNvSpPr/>
              <p:nvPr/>
            </p:nvSpPr>
            <p:spPr>
              <a:xfrm flipH="false" flipV="false" rot="0">
                <a:off x="0" y="0"/>
                <a:ext cx="4064000" cy="150519"/>
              </a:xfrm>
              <a:custGeom>
                <a:avLst/>
                <a:gdLst/>
                <a:ahLst/>
                <a:cxnLst/>
                <a:rect r="r" b="b" t="t" l="l"/>
                <a:pathLst>
                  <a:path h="150519" w="4064000">
                    <a:moveTo>
                      <a:pt x="0" y="0"/>
                    </a:moveTo>
                    <a:lnTo>
                      <a:pt x="4064000" y="0"/>
                    </a:lnTo>
                    <a:lnTo>
                      <a:pt x="4064000" y="150519"/>
                    </a:lnTo>
                    <a:lnTo>
                      <a:pt x="0" y="150519"/>
                    </a:lnTo>
                    <a:close/>
                  </a:path>
                </a:pathLst>
              </a:custGeom>
              <a:solidFill>
                <a:srgbClr val="DBEAFE"/>
              </a:solidFill>
            </p:spPr>
          </p:sp>
          <p:sp>
            <p:nvSpPr>
              <p:cNvPr name="TextBox 8" id="8"/>
              <p:cNvSpPr txBox="true"/>
              <p:nvPr/>
            </p:nvSpPr>
            <p:spPr>
              <a:xfrm>
                <a:off x="0" y="-9525"/>
                <a:ext cx="4064000" cy="160044"/>
              </a:xfrm>
              <a:prstGeom prst="rect">
                <a:avLst/>
              </a:prstGeom>
            </p:spPr>
            <p:txBody>
              <a:bodyPr anchor="ctr" rtlCol="false" tIns="50800" lIns="50800" bIns="50800" rIns="50800"/>
              <a:lstStyle/>
              <a:p>
                <a:pPr algn="ctr">
                  <a:lnSpc>
                    <a:spcPts val="2970"/>
                  </a:lnSpc>
                </a:pPr>
              </a:p>
            </p:txBody>
          </p:sp>
        </p:grpSp>
        <p:grpSp>
          <p:nvGrpSpPr>
            <p:cNvPr name="Group 9" id="9"/>
            <p:cNvGrpSpPr/>
            <p:nvPr/>
          </p:nvGrpSpPr>
          <p:grpSpPr>
            <a:xfrm rot="0">
              <a:off x="0" y="1778000"/>
              <a:ext cx="20574000" cy="762000"/>
              <a:chOff x="0" y="0"/>
              <a:chExt cx="4064000" cy="150519"/>
            </a:xfrm>
          </p:grpSpPr>
          <p:sp>
            <p:nvSpPr>
              <p:cNvPr name="Freeform 10" id="10"/>
              <p:cNvSpPr/>
              <p:nvPr/>
            </p:nvSpPr>
            <p:spPr>
              <a:xfrm flipH="false" flipV="false" rot="0">
                <a:off x="0" y="0"/>
                <a:ext cx="4064000" cy="150519"/>
              </a:xfrm>
              <a:custGeom>
                <a:avLst/>
                <a:gdLst/>
                <a:ahLst/>
                <a:cxnLst/>
                <a:rect r="r" b="b" t="t" l="l"/>
                <a:pathLst>
                  <a:path h="150519" w="4064000">
                    <a:moveTo>
                      <a:pt x="0" y="0"/>
                    </a:moveTo>
                    <a:lnTo>
                      <a:pt x="4064000" y="0"/>
                    </a:lnTo>
                    <a:lnTo>
                      <a:pt x="4064000" y="150519"/>
                    </a:lnTo>
                    <a:lnTo>
                      <a:pt x="0" y="150519"/>
                    </a:lnTo>
                    <a:close/>
                  </a:path>
                </a:pathLst>
              </a:custGeom>
              <a:solidFill>
                <a:srgbClr val="DBEAFE"/>
              </a:solidFill>
            </p:spPr>
          </p:sp>
          <p:sp>
            <p:nvSpPr>
              <p:cNvPr name="TextBox 11" id="11"/>
              <p:cNvSpPr txBox="true"/>
              <p:nvPr/>
            </p:nvSpPr>
            <p:spPr>
              <a:xfrm>
                <a:off x="0" y="-9525"/>
                <a:ext cx="4064000" cy="160044"/>
              </a:xfrm>
              <a:prstGeom prst="rect">
                <a:avLst/>
              </a:prstGeom>
            </p:spPr>
            <p:txBody>
              <a:bodyPr anchor="ctr" rtlCol="false" tIns="50800" lIns="50800" bIns="50800" rIns="50800"/>
              <a:lstStyle/>
              <a:p>
                <a:pPr algn="ctr">
                  <a:lnSpc>
                    <a:spcPts val="2970"/>
                  </a:lnSpc>
                </a:pPr>
              </a:p>
            </p:txBody>
          </p:sp>
        </p:grpSp>
      </p:grpSp>
      <p:sp>
        <p:nvSpPr>
          <p:cNvPr name="TextBox 12" id="12"/>
          <p:cNvSpPr txBox="true"/>
          <p:nvPr/>
        </p:nvSpPr>
        <p:spPr>
          <a:xfrm rot="0">
            <a:off x="1213339" y="666750"/>
            <a:ext cx="15861323" cy="6000750"/>
          </a:xfrm>
          <a:prstGeom prst="rect">
            <a:avLst/>
          </a:prstGeom>
        </p:spPr>
        <p:txBody>
          <a:bodyPr anchor="t" rtlCol="false" tIns="0" lIns="0" bIns="0" rIns="0">
            <a:spAutoFit/>
          </a:bodyPr>
          <a:lstStyle/>
          <a:p>
            <a:pPr algn="ctr">
              <a:lnSpc>
                <a:spcPts val="5280"/>
              </a:lnSpc>
            </a:pPr>
            <a:r>
              <a:rPr lang="en-US" sz="4400">
                <a:solidFill>
                  <a:srgbClr val="0369A1"/>
                </a:solidFill>
                <a:latin typeface="Inter"/>
                <a:ea typeface="Inter"/>
                <a:cs typeface="Inter"/>
                <a:sym typeface="Inter"/>
              </a:rPr>
              <a:t>D</a:t>
            </a:r>
            <a:r>
              <a:rPr lang="en-US" sz="4400">
                <a:solidFill>
                  <a:srgbClr val="0369A1"/>
                </a:solidFill>
                <a:latin typeface="Inter"/>
                <a:ea typeface="Inter"/>
                <a:cs typeface="Inter"/>
                <a:sym typeface="Inter"/>
              </a:rPr>
              <a:t>ESAFÍO FINAL · 3 DE 3</a:t>
            </a:r>
          </a:p>
          <a:p>
            <a:pPr algn="ctr">
              <a:lnSpc>
                <a:spcPts val="5280"/>
              </a:lnSpc>
            </a:pPr>
          </a:p>
          <a:p>
            <a:pPr algn="ctr">
              <a:lnSpc>
                <a:spcPts val="5280"/>
              </a:lnSpc>
            </a:pPr>
            <a:r>
              <a:rPr lang="en-US" sz="4400">
                <a:solidFill>
                  <a:srgbClr val="0369A1"/>
                </a:solidFill>
                <a:latin typeface="Inter"/>
                <a:ea typeface="Inter"/>
                <a:cs typeface="Inter"/>
                <a:sym typeface="Inter"/>
              </a:rPr>
              <a:t>¿Qué monitoreamos para evaluar la actualización?</a:t>
            </a:r>
          </a:p>
          <a:p>
            <a:pPr algn="ctr">
              <a:lnSpc>
                <a:spcPts val="5280"/>
              </a:lnSpc>
            </a:pPr>
          </a:p>
          <a:p>
            <a:pPr algn="ctr">
              <a:lnSpc>
                <a:spcPts val="5280"/>
              </a:lnSpc>
            </a:pPr>
            <a:r>
              <a:rPr lang="en-US" sz="4400">
                <a:solidFill>
                  <a:srgbClr val="0369A1"/>
                </a:solidFill>
                <a:latin typeface="Inter"/>
                <a:ea typeface="Inter"/>
                <a:cs typeface="Inter"/>
                <a:sym typeface="Inter"/>
              </a:rPr>
              <a:t>A   La cantidad de versiones publicadas.</a:t>
            </a:r>
          </a:p>
          <a:p>
            <a:pPr algn="ctr">
              <a:lnSpc>
                <a:spcPts val="5280"/>
              </a:lnSpc>
            </a:pPr>
            <a:r>
              <a:rPr lang="en-US" sz="4400">
                <a:solidFill>
                  <a:srgbClr val="0369A1"/>
                </a:solidFill>
                <a:latin typeface="Inter"/>
                <a:ea typeface="Inter"/>
                <a:cs typeface="Inter"/>
                <a:sym typeface="Inter"/>
              </a:rPr>
              <a:t>B   La cantidad de microservicios actualizados.</a:t>
            </a:r>
          </a:p>
          <a:p>
            <a:pPr algn="ctr">
              <a:lnSpc>
                <a:spcPts val="5280"/>
              </a:lnSpc>
            </a:pPr>
            <a:r>
              <a:rPr lang="en-US" sz="4400">
                <a:solidFill>
                  <a:srgbClr val="0369A1"/>
                </a:solidFill>
                <a:latin typeface="Inter"/>
                <a:ea typeface="Inter"/>
                <a:cs typeface="Inter"/>
                <a:sym typeface="Inter"/>
              </a:rPr>
              <a:t>C   Errores, tiempo de respuesta y disponibilidad.</a:t>
            </a:r>
          </a:p>
          <a:p>
            <a:pPr algn="ctr">
              <a:lnSpc>
                <a:spcPts val="5280"/>
              </a:lnSpc>
            </a:pPr>
          </a:p>
          <a:p>
            <a:pPr algn="ctr">
              <a:lnSpc>
                <a:spcPts val="5280"/>
              </a:lnSpc>
              <a:spcBef>
                <a:spcPct val="0"/>
              </a:spcBef>
            </a:pPr>
            <a:r>
              <a:rPr lang="en-US" sz="4400">
                <a:solidFill>
                  <a:srgbClr val="0369A1"/>
                </a:solidFill>
                <a:latin typeface="Inter"/>
                <a:ea typeface="Inter"/>
                <a:cs typeface="Inter"/>
                <a:sym typeface="Inter"/>
              </a:rPr>
              <a:t>10 SEGUNDOS · ELEGÍ A, B O C</a:t>
            </a:r>
          </a:p>
        </p:txBody>
      </p:sp>
      <p:pic>
        <p:nvPicPr>
          <p:cNvPr name="Picture 13" id="13">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6286500" y="6953250"/>
            <a:ext cx="5715000" cy="3257527"/>
          </a:xfrm>
          <a:prstGeom prst="rect">
            <a:avLst/>
          </a:prstGeom>
        </p:spPr>
      </p:pic>
    </p:spTree>
  </p:cSld>
  <p:clrMapOvr>
    <a:masterClrMapping/>
  </p:clrMapOvr>
  <p:timing>
    <p:tnLst>
      <p:par>
        <p:cTn dur="indefinite" restart="never" nodeType="tmRoot">
          <p:childTnLst>
            <p:video>
              <p:cMediaNode vol="100000">
                <p:cTn fill="hold" display="false">
                  <p:stCondLst>
                    <p:cond delay="indefinite"/>
                  </p:stCondLst>
                </p:cTn>
                <p:tgtEl>
                  <p:spTgt spid="13"/>
                </p:tgtEl>
              </p:cMediaNode>
            </p:video>
          </p:childTnLst>
        </p:cTn>
      </p:par>
    </p:tnLst>
  </p:timing>
</p:sld>
</file>

<file path=ppt/slides/slide21.xml><?xml version="1.0" encoding="utf-8"?>
<p:sld xmlns:p="http://schemas.openxmlformats.org/presentationml/2006/main" xmlns:a="http://schemas.openxmlformats.org/drawingml/2006/main">
  <p:cSld>
    <p:bg>
      <p:bgPr>
        <a:solidFill>
          <a:srgbClr val="F8FAFC"/>
        </a:solidFill>
      </p:bgPr>
    </p:bg>
    <p:spTree>
      <p:nvGrpSpPr>
        <p:cNvPr id="1" name=""/>
        <p:cNvGrpSpPr/>
        <p:nvPr/>
      </p:nvGrpSpPr>
      <p:grpSpPr>
        <a:xfrm>
          <a:off x="0" y="0"/>
          <a:ext cx="0" cy="0"/>
          <a:chOff x="0" y="0"/>
          <a:chExt cx="0" cy="0"/>
        </a:xfrm>
      </p:grpSpPr>
      <p:sp>
        <p:nvSpPr>
          <p:cNvPr name="TextBox 2" id="2"/>
          <p:cNvSpPr txBox="true"/>
          <p:nvPr/>
        </p:nvSpPr>
        <p:spPr>
          <a:xfrm rot="0">
            <a:off x="1213339" y="1333500"/>
            <a:ext cx="15861323" cy="6000750"/>
          </a:xfrm>
          <a:prstGeom prst="rect">
            <a:avLst/>
          </a:prstGeom>
        </p:spPr>
        <p:txBody>
          <a:bodyPr anchor="t" rtlCol="false" tIns="0" lIns="0" bIns="0" rIns="0">
            <a:spAutoFit/>
          </a:bodyPr>
          <a:lstStyle/>
          <a:p>
            <a:pPr algn="ctr">
              <a:lnSpc>
                <a:spcPts val="5280"/>
              </a:lnSpc>
            </a:pPr>
            <a:r>
              <a:rPr lang="en-US" sz="4400" b="true">
                <a:solidFill>
                  <a:srgbClr val="C2410C"/>
                </a:solidFill>
                <a:latin typeface="Inter Bold"/>
                <a:ea typeface="Inter Bold"/>
                <a:cs typeface="Inter Bold"/>
                <a:sym typeface="Inter Bold"/>
              </a:rPr>
              <a:t>R</a:t>
            </a:r>
            <a:r>
              <a:rPr lang="en-US" sz="4400" b="true">
                <a:solidFill>
                  <a:srgbClr val="C2410C"/>
                </a:solidFill>
                <a:latin typeface="Inter Bold"/>
                <a:ea typeface="Inter Bold"/>
                <a:cs typeface="Inter Bold"/>
                <a:sym typeface="Inter Bold"/>
              </a:rPr>
              <a:t>ESPUESTA CORRECTA · C</a:t>
            </a:r>
          </a:p>
          <a:p>
            <a:pPr algn="ctr">
              <a:lnSpc>
                <a:spcPts val="5280"/>
              </a:lnSpc>
            </a:pPr>
          </a:p>
          <a:p>
            <a:pPr algn="ctr">
              <a:lnSpc>
                <a:spcPts val="5280"/>
              </a:lnSpc>
            </a:pPr>
            <a:r>
              <a:rPr lang="en-US" sz="4400">
                <a:solidFill>
                  <a:srgbClr val="0369A1"/>
                </a:solidFill>
                <a:latin typeface="Inter"/>
                <a:ea typeface="Inter"/>
                <a:cs typeface="Inter"/>
                <a:sym typeface="Inter"/>
              </a:rPr>
              <a:t>Errores, tiempo de respuesta</a:t>
            </a:r>
          </a:p>
          <a:p>
            <a:pPr algn="ctr">
              <a:lnSpc>
                <a:spcPts val="5280"/>
              </a:lnSpc>
            </a:pPr>
            <a:r>
              <a:rPr lang="en-US" sz="4400">
                <a:solidFill>
                  <a:srgbClr val="0369A1"/>
                </a:solidFill>
                <a:latin typeface="Inter"/>
                <a:ea typeface="Inter"/>
                <a:cs typeface="Inter"/>
                <a:sym typeface="Inter"/>
              </a:rPr>
              <a:t>y disponibilidad del servicio.</a:t>
            </a:r>
          </a:p>
          <a:p>
            <a:pPr algn="ctr">
              <a:lnSpc>
                <a:spcPts val="5280"/>
              </a:lnSpc>
            </a:pPr>
          </a:p>
          <a:p>
            <a:pPr algn="ctr">
              <a:lnSpc>
                <a:spcPts val="5280"/>
              </a:lnSpc>
            </a:pPr>
            <a:r>
              <a:rPr lang="en-US" sz="4400">
                <a:solidFill>
                  <a:srgbClr val="0369A1"/>
                </a:solidFill>
                <a:latin typeface="Inter"/>
                <a:ea typeface="Inter"/>
                <a:cs typeface="Inter"/>
                <a:sym typeface="Inter"/>
              </a:rPr>
              <a:t>MONITOREO CONTINUO</a:t>
            </a:r>
          </a:p>
          <a:p>
            <a:pPr algn="ctr">
              <a:lnSpc>
                <a:spcPts val="5280"/>
              </a:lnSpc>
            </a:pPr>
            <a:r>
              <a:rPr lang="en-US" sz="4400">
                <a:solidFill>
                  <a:srgbClr val="0369A1"/>
                </a:solidFill>
                <a:latin typeface="Inter"/>
                <a:ea typeface="Inter"/>
                <a:cs typeface="Inter"/>
                <a:sym typeface="Inter"/>
              </a:rPr>
              <a:t>Las métricas permiten decidir si avanzar o volver atrás.</a:t>
            </a:r>
          </a:p>
          <a:p>
            <a:pPr algn="ctr">
              <a:lnSpc>
                <a:spcPts val="5280"/>
              </a:lnSpc>
            </a:pPr>
          </a:p>
          <a:p>
            <a:pPr algn="ctr">
              <a:lnSpc>
                <a:spcPts val="5280"/>
              </a:lnSpc>
              <a:spcBef>
                <a:spcPct val="0"/>
              </a:spcBef>
            </a:pPr>
            <a:r>
              <a:rPr lang="en-US" sz="4400">
                <a:solidFill>
                  <a:srgbClr val="0369A1"/>
                </a:solidFill>
                <a:latin typeface="Inter"/>
                <a:ea typeface="Inter"/>
                <a:cs typeface="Inter"/>
                <a:sym typeface="Inter"/>
              </a:rPr>
              <a:t>¡GRACIAS POR PARTICIPAR!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DAHZhJyJjTk</dc:identifier>
  <dcterms:modified xsi:type="dcterms:W3CDTF">2011-08-01T06:04:30Z</dcterms:modified>
  <cp:revision>1</cp:revision>
  <dc:title>Plan Estratégico de Despliegue.pptx</dc:title>
</cp:coreProperties>
</file>